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1100">
                <a:solidFill>
                  <a:srgbClr val="11182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7432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A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11827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743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11827"/>
                </a:solidFill>
              </a:defRPr>
            </a:pPr>
            <a:r>
              <a:t>IDEA TITLE: UNIVERSAL ADAPTIVE LOG PREPROCESSOR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@SIH Idea submission - Template  |  Problem Statement: SIH26156 (NTRO Log Preprocessing)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80160"/>
            <a:ext cx="9966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b="1" sz="2000">
                <a:solidFill>
                  <a:srgbClr val="2563EB"/>
                </a:solidFill>
              </a:defRPr>
            </a:pPr>
            <a:r>
              <a:t>Universal Adaptive Log Preprocessor for Heterogeneous Perimeter &amp; Network Devices</a:t>
            </a:r>
          </a:p>
          <a:p>
            <a:pPr>
              <a:spcAft>
                <a:spcPts val="1400"/>
              </a:spcAft>
              <a:defRPr sz="1300">
                <a:solidFill>
                  <a:srgbClr val="0891B2"/>
                </a:solidFill>
              </a:defRPr>
            </a:pPr>
            <a:r>
              <a:t>Intelligent, 100% Air-Gapped Preprocessing Engine with Autonomous Drift Detection &amp; Self-Healing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11827"/>
                </a:solidFill>
              </a:rPr>
              <a:t>• Problem Statement ID: </a:t>
            </a:r>
            <a:r>
              <a:rPr sz="1200">
                <a:solidFill>
                  <a:srgbClr val="4B5563"/>
                </a:solidFill>
              </a:rPr>
              <a:t>SIH26156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11827"/>
                </a:solidFill>
              </a:rPr>
              <a:t>• Problem Statement Title: </a:t>
            </a:r>
            <a:r>
              <a:rPr sz="1200">
                <a:solidFill>
                  <a:srgbClr val="4B5563"/>
                </a:solidFill>
              </a:rPr>
              <a:t>NTRO Log Preprocessing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11827"/>
                </a:solidFill>
              </a:rPr>
              <a:t>• Target Organization: </a:t>
            </a:r>
            <a:r>
              <a:rPr sz="1200">
                <a:solidFill>
                  <a:srgbClr val="4B5563"/>
                </a:solidFill>
              </a:rPr>
              <a:t>National Technical Research Organisation (NTRO)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11827"/>
                </a:solidFill>
              </a:rPr>
              <a:t>• Category / Theme: </a:t>
            </a:r>
            <a:r>
              <a:rPr sz="1200">
                <a:solidFill>
                  <a:srgbClr val="4B5563"/>
                </a:solidFill>
              </a:rPr>
              <a:t>Security &amp; Surveillance / Cyber Defense / Smart Automation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11827"/>
                </a:solidFill>
              </a:rPr>
              <a:t>• Core Capability: </a:t>
            </a:r>
            <a:r>
              <a:rPr sz="1200">
                <a:solidFill>
                  <a:srgbClr val="4B5563"/>
                </a:solidFill>
              </a:rPr>
              <a:t>Autonomous Unknown Log Detection, Adaptive Schema Inference, Zero-Cloud On-Premise Operation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11827"/>
                </a:solidFill>
              </a:rPr>
              <a:t>• Team Details: </a:t>
            </a:r>
            <a:r>
              <a:rPr sz="1200">
                <a:solidFill>
                  <a:srgbClr val="4B5563"/>
                </a:solidFill>
              </a:rPr>
              <a:t>Team Name: [Your Team Name]  |  Team Leader: [Name]  |  Members: [Member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1100">
                <a:solidFill>
                  <a:srgbClr val="11182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7432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A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11827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743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11827"/>
                </a:solidFill>
              </a:defRPr>
            </a:pPr>
            <a:r>
              <a:t>PROPOSED SOLUTION (IDEA / SOLUTION / PROTOTYPE)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@SIH Idea submission - Template  |  Problem Statement: SIH26156 (NTRO Log Preprocessing)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❖ Detailed Solution &amp; Problem Fit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11827"/>
                </a:solidFill>
              </a:rPr>
              <a:t>• The Challenge: </a:t>
            </a:r>
            <a:r>
              <a:rPr sz="1000">
                <a:solidFill>
                  <a:srgbClr val="4B5563"/>
                </a:solidFill>
              </a:rPr>
              <a:t>Perimeter defense devices (Cisco routers, next-gen firewalls, gateways, VPNs) produce massive streams of non-standard, vendor-proprietary, and rapidly shifting logs. Hardcoded Grok/Regex parsers constantly break.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11827"/>
                </a:solidFill>
              </a:rPr>
              <a:t>• Universal Ingestion Engine: </a:t>
            </a:r>
            <a:r>
              <a:rPr sz="1000">
                <a:solidFill>
                  <a:srgbClr val="4B5563"/>
                </a:solidFill>
              </a:rPr>
              <a:t>Accepts logs from any network device. Known formats (Cisco IOS ACLs, standard FW KV, Syslog) are recognized instantly; unseen/unknown formats are dynamically fingerprinted.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11827"/>
                </a:solidFill>
              </a:rPr>
              <a:t>• Zero-Code Adaptive Parsing: </a:t>
            </a:r>
            <a:r>
              <a:rPr sz="1000">
                <a:solidFill>
                  <a:srgbClr val="4B5563"/>
                </a:solidFill>
              </a:rPr>
              <a:t>Extracts IPs, ports, action verbs (ALLOW/DENY/DROP), protocols, and timestamps. Uses semantic synonym inference (SRCIP -&gt; source_ip, DP -&gt; destination_port) without writing custom rules.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11827"/>
                </a:solidFill>
              </a:rPr>
              <a:t>• Universal Normalization: </a:t>
            </a:r>
            <a:r>
              <a:rPr sz="1000">
                <a:solidFill>
                  <a:srgbClr val="4B5563"/>
                </a:solidFill>
              </a:rPr>
              <a:t>Converts all heterogeneous inputs into a standardized JSON defense schema for downstream SIEM, SOC, and anomaly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800"/>
              </a:spcAft>
              <a:defRPr b="1" sz="1500">
                <a:solidFill>
                  <a:srgbClr val="0891B2"/>
                </a:solidFill>
              </a:defRPr>
            </a:pPr>
            <a:r>
              <a:t>❖ Innovation &amp; Key R&amp;D Differentiators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11827"/>
                </a:solidFill>
              </a:rPr>
              <a:t>★ 1. Autonomous Self-Healing: </a:t>
            </a:r>
            <a:r>
              <a:rPr sz="1000">
                <a:solidFill>
                  <a:srgbClr val="4B5563"/>
                </a:solidFill>
              </a:rPr>
              <a:t>When firmware updates mutate log keys (e.g. ACTION= -&gt; ACT=, SRC= -&gt; SRCIP=), the Drift Detector flags the confidence drop (100% -&gt; 25%) and dynamically synthesizes Parser v2.0 to restore 100% confidence.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11827"/>
                </a:solidFill>
              </a:rPr>
              <a:t>★ 2. Deterministic Confidence Scorer: </a:t>
            </a:r>
            <a:r>
              <a:rPr sz="1000">
                <a:solidFill>
                  <a:srgbClr val="4B5563"/>
                </a:solidFill>
              </a:rPr>
              <a:t>Explainable multi-attribute weighting (Timestamp +20%, Src IP +20%, Dst IP +20%, Protocol +15%, Action +15%, Port +10%) eliminating black-box stochastic guessing.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11827"/>
                </a:solidFill>
              </a:rPr>
              <a:t>★ 3. 100% Air-Gapped Local Processing: </a:t>
            </a:r>
            <a:r>
              <a:rPr sz="1000">
                <a:solidFill>
                  <a:srgbClr val="4B5563"/>
                </a:solidFill>
              </a:rPr>
              <a:t>Zero cloud dependency, zero external LLM API calls. Sensitive defense network topology and internal IPs remain completely secure on-premises.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111827"/>
                </a:solidFill>
              </a:rPr>
              <a:t>★ 4. Explainable SOC Visualizer: </a:t>
            </a:r>
            <a:r>
              <a:rPr sz="1000">
                <a:solidFill>
                  <a:srgbClr val="4B5563"/>
                </a:solidFill>
              </a:rPr>
              <a:t>Interactive React/Tailwind dashboard displaying real-time pipeline topology, semantic mapping trees, drift timelines, and telemetry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1100">
                <a:solidFill>
                  <a:srgbClr val="11182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7432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A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11827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743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11827"/>
                </a:solidFill>
              </a:defRPr>
            </a:pPr>
            <a:r>
              <a:t>TECHNICAL ARCHITECTURE &amp; PROCESSING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@SIH Idea submission - Template  |  Problem Statement: SIH26156 (NTRO Log Preprocessing)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1417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b="1" sz="1100">
                <a:solidFill>
                  <a:srgbClr val="2563EB"/>
                </a:solidFill>
              </a:defRPr>
            </a:pPr>
            <a:r>
              <a:t>1. Ingest</a:t>
            </a:r>
          </a:p>
          <a:p>
            <a:pPr algn="ctr">
              <a:defRPr sz="900">
                <a:solidFill>
                  <a:srgbClr val="4B5563"/>
                </a:solidFill>
              </a:defRPr>
            </a:pPr>
            <a:r>
              <a:t>Local Raw 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188720"/>
            <a:ext cx="1417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b="1" sz="1100">
                <a:solidFill>
                  <a:srgbClr val="0891B2"/>
                </a:solidFill>
              </a:defRPr>
            </a:pPr>
            <a:r>
              <a:t>2. Fingerprint</a:t>
            </a:r>
          </a:p>
          <a:p>
            <a:pPr algn="ctr">
              <a:defRPr sz="900">
                <a:solidFill>
                  <a:srgbClr val="4B5563"/>
                </a:solidFill>
              </a:defRPr>
            </a:pPr>
            <a:r>
              <a:t>Structural Delimiters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188720"/>
            <a:ext cx="1417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b="1" sz="1100">
                <a:solidFill>
                  <a:srgbClr val="6366F1"/>
                </a:solidFill>
              </a:defRPr>
            </a:pPr>
            <a:r>
              <a:t>3. Classify</a:t>
            </a:r>
          </a:p>
          <a:p>
            <a:pPr algn="ctr">
              <a:defRPr sz="900">
                <a:solidFill>
                  <a:srgbClr val="4B5563"/>
                </a:solidFill>
              </a:defRPr>
            </a:pPr>
            <a:r>
              <a:t>Known vs Unknown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188720"/>
            <a:ext cx="1417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b="1" sz="1100">
                <a:solidFill>
                  <a:srgbClr val="8B5CF6"/>
                </a:solidFill>
              </a:defRPr>
            </a:pPr>
            <a:r>
              <a:t>4. Adaptive Parse</a:t>
            </a:r>
          </a:p>
          <a:p>
            <a:pPr algn="ctr">
              <a:defRPr sz="900">
                <a:solidFill>
                  <a:srgbClr val="4B5563"/>
                </a:solidFill>
              </a:defRPr>
            </a:pPr>
            <a:r>
              <a:t>Semantic Synonym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188720"/>
            <a:ext cx="1417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5. Confidence</a:t>
            </a:r>
          </a:p>
          <a:p>
            <a:pPr algn="ctr">
              <a:defRPr sz="900">
                <a:solidFill>
                  <a:srgbClr val="4B5563"/>
                </a:solidFill>
              </a:defRPr>
            </a:pPr>
            <a:r>
              <a:t>Explainable Scorer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188720"/>
            <a:ext cx="1417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b="1" sz="1100">
                <a:solidFill>
                  <a:srgbClr val="10B981"/>
                </a:solidFill>
              </a:defRPr>
            </a:pPr>
            <a:r>
              <a:t>6. Normalize</a:t>
            </a:r>
          </a:p>
          <a:p>
            <a:pPr algn="ctr">
              <a:defRPr sz="900">
                <a:solidFill>
                  <a:srgbClr val="4B5563"/>
                </a:solidFill>
              </a:defRPr>
            </a:pPr>
            <a:r>
              <a:t>Universal Defense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1188720"/>
            <a:ext cx="1417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b="1" sz="1100">
                <a:solidFill>
                  <a:srgbClr val="F59E0B"/>
                </a:solidFill>
              </a:defRPr>
            </a:pPr>
            <a:r>
              <a:t>7. Self-Heal</a:t>
            </a:r>
          </a:p>
          <a:p>
            <a:pPr algn="ctr">
              <a:defRPr sz="900">
                <a:solidFill>
                  <a:srgbClr val="4B5563"/>
                </a:solidFill>
              </a:defRPr>
            </a:pPr>
            <a:r>
              <a:t>Drift Anomaly v1 -&gt; v2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68880"/>
            <a:ext cx="51206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600"/>
              </a:spcAft>
              <a:defRPr b="1" sz="1400">
                <a:solidFill>
                  <a:srgbClr val="2563EB"/>
                </a:solidFill>
              </a:defRPr>
            </a:pPr>
            <a:r>
              <a:t>❖ Core Technology Stack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11827"/>
                </a:solidFill>
              </a:rPr>
              <a:t>• Backend Core: </a:t>
            </a:r>
            <a:r>
              <a:rPr sz="950">
                <a:solidFill>
                  <a:srgbClr val="4B5563"/>
                </a:solidFill>
              </a:rPr>
              <a:t>Python 3.13, FastAPI (High-performance asynchronous REST API), Pydantic v2 (Strict Schema Validation)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11827"/>
                </a:solidFill>
              </a:rPr>
              <a:t>• Parsing &amp; Inference: </a:t>
            </a:r>
            <a:r>
              <a:rPr sz="950">
                <a:solidFill>
                  <a:srgbClr val="4B5563"/>
                </a:solidFill>
              </a:rPr>
              <a:t>Pattern-based Feature Extractor, Semantic Synonym Dictionaries, Positional Token Heuristics, Dynamic AST Generator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11827"/>
                </a:solidFill>
              </a:rPr>
              <a:t>• Frontend Visualizer: </a:t>
            </a:r>
            <a:r>
              <a:rPr sz="950">
                <a:solidFill>
                  <a:srgbClr val="4B5563"/>
                </a:solidFill>
              </a:rPr>
              <a:t>React 18, Vite, Tailwind CSS (Dark SOC Theme), Recharts (Real-time Telemetry Charts), Lucide Icons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11827"/>
                </a:solidFill>
              </a:rPr>
              <a:t>• Air-Gap Security: </a:t>
            </a:r>
            <a:r>
              <a:rPr sz="950">
                <a:solidFill>
                  <a:srgbClr val="4B5563"/>
                </a:solidFill>
              </a:rPr>
              <a:t>100% On-Premise Execution, Zero External Network Egress, In-Memory &amp; Local SQLite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468880"/>
            <a:ext cx="52120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600"/>
              </a:spcAft>
              <a:defRPr b="1" sz="1400">
                <a:solidFill>
                  <a:srgbClr val="0891B2"/>
                </a:solidFill>
              </a:defRPr>
            </a:pPr>
            <a:r>
              <a:t>❖ Universal Normalized Defense Event Schema</a:t>
            </a:r>
          </a:p>
          <a:p>
            <a:pPr>
              <a:defRPr sz="850">
                <a:solidFill>
                  <a:srgbClr val="10B981"/>
                </a:solidFill>
                <a:latin typeface="Courier New"/>
              </a:defRPr>
            </a:pPr>
            <a:r>
              <a:t>{</a:t>
            </a:r>
            <a:br/>
            <a:r>
              <a:t>  "timestamp": "2026-08-31T21:13:04Z",</a:t>
            </a:r>
            <a:br/>
            <a:r>
              <a:t>  "device": "EDGE-X / FW01 / Cisco-Router",</a:t>
            </a:r>
            <a:br/>
            <a:r>
              <a:t>  "device_type": "Perimeter Gateway",</a:t>
            </a:r>
            <a:br/>
            <a:r>
              <a:t>  "source_ip": "172.20.1.50",</a:t>
            </a:r>
            <a:br/>
            <a:r>
              <a:t>  "destination_ip": "10.10.4.8",</a:t>
            </a:r>
            <a:br/>
            <a:r>
              <a:t>  "source_port": 52144,</a:t>
            </a:r>
            <a:br/>
            <a:r>
              <a:t>  "destination_port": 3389,</a:t>
            </a:r>
            <a:br/>
            <a:r>
              <a:t>  "protocol": "TCP",</a:t>
            </a:r>
            <a:br/>
            <a:r>
              <a:t>  "action": "DENY",</a:t>
            </a:r>
            <a:br/>
            <a:r>
              <a:t>  "parser_type": "adaptive | known | self_healed",</a:t>
            </a:r>
            <a:br/>
            <a:r>
              <a:t>  "parser_version": "fw_v2.0 (Self-Healed)",</a:t>
            </a:r>
            <a:br/>
            <a:r>
              <a:t>  "confidence": 100.0,</a:t>
            </a:r>
            <a:br/>
            <a:r>
              <a:t>  "status": "self_healed"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1100">
                <a:solidFill>
                  <a:srgbClr val="11182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7432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A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11827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743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11827"/>
                </a:solidFill>
              </a:defRPr>
            </a:pPr>
            <a: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@SIH Idea submission - Template  |  Problem Statement: SIH26156 (NTRO Log Preprocessing)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❖ Analysis of Feasibility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11827"/>
                </a:solidFill>
              </a:rPr>
              <a:t>• Technical Feasibility: </a:t>
            </a:r>
            <a:r>
              <a:rPr sz="950">
                <a:solidFill>
                  <a:srgbClr val="4B5563"/>
                </a:solidFill>
              </a:rPr>
              <a:t>Lightweight regex compilation and deterministic semantic lookup achieve sub-millisecond per-log processing latency.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11827"/>
                </a:solidFill>
              </a:rPr>
              <a:t>• Operational Feasibility: </a:t>
            </a:r>
            <a:r>
              <a:rPr sz="950">
                <a:solidFill>
                  <a:srgbClr val="4B5563"/>
                </a:solidFill>
              </a:rPr>
              <a:t>Drop-in compatibility with existing Syslog daemons (rsyslog, syslog-ng), Logstash, FluentBit, and Kafka streams.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11827"/>
                </a:solidFill>
              </a:rPr>
              <a:t>• Economic Viability: </a:t>
            </a:r>
            <a:r>
              <a:rPr sz="950">
                <a:solidFill>
                  <a:srgbClr val="4B5563"/>
                </a:solidFill>
              </a:rPr>
              <a:t>Zero recurring cloud LLM API costs or token fees. Completely free from proprietary vendor licensing.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b="1" sz="1300">
                <a:solidFill>
                  <a:srgbClr val="EF4444"/>
                </a:solidFill>
              </a:defRPr>
            </a:pPr>
            <a:r>
              <a:t>❖ Potential Challenges &amp; Risks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11827"/>
                </a:solidFill>
              </a:rPr>
              <a:t>• High EPS Load (100k+ Logs/sec): </a:t>
            </a:r>
            <a:r>
              <a:rPr sz="950">
                <a:solidFill>
                  <a:srgbClr val="4B5563"/>
                </a:solidFill>
              </a:rPr>
              <a:t>Risk of CPU saturation during continuous real-time semantic inference.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11827"/>
                </a:solidFill>
              </a:rPr>
              <a:t>• Severely Obfuscated Formats: </a:t>
            </a:r>
            <a:r>
              <a:rPr sz="950">
                <a:solidFill>
                  <a:srgbClr val="4B5563"/>
                </a:solidFill>
              </a:rPr>
              <a:t>Risk of missing field semantics in completely non-standard proprietary binaries or compressed blobs.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11827"/>
                </a:solidFill>
              </a:rPr>
              <a:t>• False Positive Drift Triggers: </a:t>
            </a:r>
            <a:r>
              <a:rPr sz="950">
                <a:solidFill>
                  <a:srgbClr val="4B5563"/>
                </a:solidFill>
              </a:rPr>
              <a:t>Minor intermittent log corruption might trigger unnecessary parser re-synthesis.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800"/>
              </a:spcAft>
              <a:defRPr b="1" sz="1300">
                <a:solidFill>
                  <a:srgbClr val="10B981"/>
                </a:solidFill>
              </a:defRPr>
            </a:pPr>
            <a:r>
              <a:t>❖ Mitigation &amp; Engineering Strategies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11827"/>
                </a:solidFill>
              </a:rPr>
              <a:t>• Vectorized Regex &amp; Hyperscan: </a:t>
            </a:r>
            <a:r>
              <a:rPr sz="950">
                <a:solidFill>
                  <a:srgbClr val="4B5563"/>
                </a:solidFill>
              </a:rPr>
              <a:t>Compile parser ASTs into hardware-accelerated C-bindings (Intel Hyperscan) for 100,000+ EPS throughput.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11827"/>
                </a:solidFill>
              </a:rPr>
              <a:t>• Positional Heuristic Fallback: </a:t>
            </a:r>
            <a:r>
              <a:rPr sz="950">
                <a:solidFill>
                  <a:srgbClr val="4B5563"/>
                </a:solidFill>
              </a:rPr>
              <a:t>Dual-tier validation combines key-value matching with positional token entropy and IP/Port regexes.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11827"/>
                </a:solidFill>
              </a:rPr>
              <a:t>• Confidence Thresholding &amp; Quorum: </a:t>
            </a:r>
            <a:r>
              <a:rPr sz="950">
                <a:solidFill>
                  <a:srgbClr val="4B5563"/>
                </a:solidFill>
              </a:rPr>
              <a:t>Require minimum batch verification (e.g. 5+ failed logs) before promoting self-healed Parser v2.0.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1100">
                <a:solidFill>
                  <a:srgbClr val="11182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7432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A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11827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743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11827"/>
                </a:solidFill>
              </a:defRPr>
            </a:pPr>
            <a:r>
              <a:t>IMPACT, BENEFITS, AND POTENTIAL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@SIH Idea submission - Template  |  Problem Statement: SIH26156 (NTRO Log Preprocessing)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51206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2563EB"/>
                </a:solidFill>
              </a:defRPr>
            </a:pPr>
            <a:r>
              <a:t>❖ National Security &amp; Defense (NTRO / CERT-In / Military Grid)</a:t>
            </a:r>
          </a:p>
          <a:p>
            <a:pPr>
              <a:spcAft>
                <a:spcPts val="300"/>
              </a:spcAft>
              <a:defRPr sz="950">
                <a:solidFill>
                  <a:srgbClr val="4B5563"/>
                </a:solidFill>
              </a:defRPr>
            </a:pPr>
            <a:r>
              <a:t>• Seamlessly integrates heterogeneous perimeter hardware across border routers, naval gateways, and military SOCs.</a:t>
            </a:r>
          </a:p>
          <a:p>
            <a:pPr>
              <a:spcAft>
                <a:spcPts val="300"/>
              </a:spcAft>
              <a:defRPr sz="950">
                <a:solidFill>
                  <a:srgbClr val="4B5563"/>
                </a:solidFill>
              </a:defRPr>
            </a:pPr>
            <a:r>
              <a:t>• 100% Air-gapped deployment prevents sensitive defense network topology and firewall configurations from leaking to external clouds.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1206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0891B2"/>
                </a:solidFill>
              </a:defRPr>
            </a:pPr>
            <a:r>
              <a:t>❖ Critical Infrastructure &amp; Financial Institutions</a:t>
            </a:r>
          </a:p>
          <a:p>
            <a:pPr>
              <a:spcAft>
                <a:spcPts val="300"/>
              </a:spcAft>
              <a:defRPr sz="950">
                <a:solidFill>
                  <a:srgbClr val="4B5563"/>
                </a:solidFill>
              </a:defRPr>
            </a:pPr>
            <a:r>
              <a:t>• Protects Banking networks, Power Grids (SCADA/ICS), and Telecom backbones from log pipeline blackouts during vendor firmware updates.</a:t>
            </a:r>
          </a:p>
          <a:p>
            <a:pPr>
              <a:spcAft>
                <a:spcPts val="300"/>
              </a:spcAft>
              <a:defRPr sz="950">
                <a:solidFill>
                  <a:srgbClr val="4B5563"/>
                </a:solidFill>
              </a:defRPr>
            </a:pPr>
            <a:r>
              <a:t>• Normalizes multi-vendor perimeter traffic (Palo Alto, Fortinet, Cisco, Check Point) into a single unified format.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1206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10B981"/>
                </a:solidFill>
              </a:defRPr>
            </a:pPr>
            <a:r>
              <a:t>❖ Massive Operational Efficiency &amp; Cost Reduction</a:t>
            </a:r>
          </a:p>
          <a:p>
            <a:pPr>
              <a:spcAft>
                <a:spcPts val="300"/>
              </a:spcAft>
              <a:defRPr sz="950">
                <a:solidFill>
                  <a:srgbClr val="4B5563"/>
                </a:solidFill>
              </a:defRPr>
            </a:pPr>
            <a:r>
              <a:t>• Reduces manual Grok/Regex parser engineering time by over 90%.</a:t>
            </a:r>
          </a:p>
          <a:p>
            <a:pPr>
              <a:spcAft>
                <a:spcPts val="300"/>
              </a:spcAft>
              <a:defRPr sz="950">
                <a:solidFill>
                  <a:srgbClr val="4B5563"/>
                </a:solidFill>
              </a:defRPr>
            </a:pPr>
            <a:r>
              <a:t>• Eliminates multi-million rupee cloud LLM token expenses through deterministic local edge 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49039"/>
            <a:ext cx="51206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400"/>
              </a:spcAft>
              <a:defRPr b="1" sz="1200">
                <a:solidFill>
                  <a:srgbClr val="F59E0B"/>
                </a:solidFill>
              </a:defRPr>
            </a:pPr>
            <a:r>
              <a:t>❖ Resilient Self-Healing Zero-Downtime Pipeline</a:t>
            </a:r>
          </a:p>
          <a:p>
            <a:pPr>
              <a:spcAft>
                <a:spcPts val="300"/>
              </a:spcAft>
              <a:defRPr sz="950">
                <a:solidFill>
                  <a:srgbClr val="4B5563"/>
                </a:solidFill>
              </a:defRPr>
            </a:pPr>
            <a:r>
              <a:t>• Eliminates silent data corruption caused by schema drift.</a:t>
            </a:r>
          </a:p>
          <a:p>
            <a:pPr>
              <a:spcAft>
                <a:spcPts val="300"/>
              </a:spcAft>
              <a:defRPr sz="950">
                <a:solidFill>
                  <a:srgbClr val="4B5563"/>
                </a:solidFill>
              </a:defRPr>
            </a:pPr>
            <a:r>
              <a:t>• Automated transition from Parser v1 to v2 ensures continuous uninterrupted log visibility for threat hunting.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28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b="1" sz="1100">
                <a:solidFill>
                  <a:srgbClr val="111827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7432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A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11827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743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11827"/>
                </a:solidFill>
              </a:defRPr>
            </a:pPr>
            <a: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@SIH Idea submission - Template  |  Problem Statement: SIH26156 (NTRO Log Preprocessing)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188720"/>
            <a:ext cx="10332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  <a:defRPr b="1" sz="1500">
                <a:solidFill>
                  <a:srgbClr val="2563EB"/>
                </a:solidFill>
              </a:defRPr>
            </a:pPr>
            <a:r>
              <a:t>❖ Technical References &amp; Research Foundation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11827"/>
                </a:solidFill>
              </a:rPr>
              <a:t>• IETF RFC 5424 &amp; RFC 3164: </a:t>
            </a:r>
            <a:r>
              <a:rPr sz="1050">
                <a:solidFill>
                  <a:srgbClr val="4B5563"/>
                </a:solidFill>
              </a:rPr>
              <a:t>The Syslog Protocol &amp; BSD Syslog Standards for Network Device Logging.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11827"/>
                </a:solidFill>
              </a:rPr>
              <a:t>• NIST Special Publication 800-92: </a:t>
            </a:r>
            <a:r>
              <a:rPr sz="1050">
                <a:solidFill>
                  <a:srgbClr val="4B5563"/>
                </a:solidFill>
              </a:rPr>
              <a:t>Guide to Computer Security Log Management - Recommendations of the National Institute of Standards and Technology.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11827"/>
                </a:solidFill>
              </a:rPr>
              <a:t>• Drain Log Parsing Research (He et al., IEEE ICWS): </a:t>
            </a:r>
            <a:r>
              <a:rPr sz="1050">
                <a:solidFill>
                  <a:srgbClr val="4B5563"/>
                </a:solidFill>
              </a:rPr>
              <a:t>Drain: An Online Log Parsing Approach with Fixed Depth Trees for High-Volume Telemetry Systems.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11827"/>
                </a:solidFill>
              </a:rPr>
              <a:t>• Spell &amp; Logram Mining (Du et al., IEEE ICDM / Dai et al., IEEE TSE): </a:t>
            </a:r>
            <a:r>
              <a:rPr sz="1050">
                <a:solidFill>
                  <a:srgbClr val="4B5563"/>
                </a:solidFill>
              </a:rPr>
              <a:t>Streaming Parsing of Unstructured System Logs and Log-based Automated Anomaly Detection.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11827"/>
                </a:solidFill>
              </a:rPr>
              <a:t>• Schema Drift &amp; Data Quality (Gao et al., ACM SIGMOD): </a:t>
            </a:r>
            <a:r>
              <a:rPr sz="1050">
                <a:solidFill>
                  <a:srgbClr val="4B5563"/>
                </a:solidFill>
              </a:rPr>
              <a:t>Adaptive Schema Evolution and Anomaly Detection in Heterogeneous Streaming Pipelines.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11827"/>
                </a:solidFill>
              </a:rPr>
              <a:t>• Smart India Hackathon 2026 Problem Guidelines: </a:t>
            </a:r>
            <a:r>
              <a:rPr sz="1050">
                <a:solidFill>
                  <a:srgbClr val="4B5563"/>
                </a:solidFill>
              </a:rPr>
              <a:t>Problem Statement SIH26156: 'NTRO Log Preprocessing' - National Technical Research Organisation.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